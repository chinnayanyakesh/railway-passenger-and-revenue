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21295C"/>
                </a:solidFill>
                <a:latin typeface="Arial"/>
              </a:rPr>
              <a:t>Passenger vs Freight Revenue (₹bn)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8AA-4879-9633-FC231359A40E}"/>
              </c:ext>
            </c:extLst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AA-4879-9633-FC231359A40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8AA-4879-9633-FC231359A40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8AA-4879-9633-FC231359A40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Freight Revenue</c:v>
                </c:pt>
                <c:pt idx="1">
                  <c:v>Passenger Revenue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1720</c:v>
                </c:pt>
                <c:pt idx="1">
                  <c:v>227.19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AA-4879-9633-FC231359A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1295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944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06440"/>
            <a:ext cx="12188952" cy="0"/>
          </a:xfrm>
          <a:prstGeom prst="line">
            <a:avLst/>
          </a:prstGeom>
          <a:noFill/>
          <a:ln w="12700">
            <a:solidFill>
              <a:srgbClr val="2E3A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879592"/>
            <a:ext cx="12188952" cy="0"/>
          </a:xfrm>
          <a:prstGeom prst="line">
            <a:avLst/>
          </a:prstGeom>
          <a:noFill/>
          <a:ln w="12700">
            <a:solidFill>
              <a:srgbClr val="2E3A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5952744"/>
            <a:ext cx="12188952" cy="0"/>
          </a:xfrm>
          <a:prstGeom prst="line">
            <a:avLst/>
          </a:prstGeom>
          <a:noFill/>
          <a:ln w="12700">
            <a:solidFill>
              <a:srgbClr val="2E3A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6025896"/>
            <a:ext cx="12188952" cy="0"/>
          </a:xfrm>
          <a:prstGeom prst="line">
            <a:avLst/>
          </a:prstGeom>
          <a:noFill/>
          <a:ln w="12700">
            <a:solidFill>
              <a:srgbClr val="2E3A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6099048"/>
            <a:ext cx="12188952" cy="0"/>
          </a:xfrm>
          <a:prstGeom prst="line">
            <a:avLst/>
          </a:prstGeom>
          <a:noFill/>
          <a:ln w="12700">
            <a:solidFill>
              <a:srgbClr val="2E3A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TRANSPORTATION  •  DATA ANALYTICS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Railway Passengers and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Analyst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SQL, MySQL &amp; Power BI project analyzing Indian Railways passenger traffic,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classes, zone performance, and revenue — FY 2019 to 2024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128016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5528" y="4754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Yakesh 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5230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SQL  •  MySQL  •  Power BI  •  DAX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534924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0" y="5806440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528048" y="5806440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921240" y="534924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012680" y="5806440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396728" y="5806440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789920" y="534924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881360" y="5806440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1265408" y="5806440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&amp;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Railway Transportation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Data Analytics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Railways — one of the world's largest rail networks — carrying millions of passengers across zones and classes every year.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1508760"/>
            <a:ext cx="5715000" cy="4480560"/>
          </a:xfrm>
          <a:prstGeom prst="roundRect">
            <a:avLst>
              <a:gd name="adj" fmla="val 1633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6364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19456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37960" y="207568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Passenger, revenue, and zone-level data is spread across disconnected CSV extracts with no unified, query-ready structure.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12724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37960" y="3008376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view exists to track passenger traffic, class-wise performance, or zone comparisons over 2019–2024.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405993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37960" y="394106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 (passenger vs. freight) and year-on-year growth are hard to monitor without a structured database and dashboard.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499262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37960" y="487375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lack an interactive, filterable tool to explore trends by year, zone, and passenger class.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675888"/>
            <a:ext cx="5248656" cy="2420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build a validated MySQL data model and a 3-page Power BI report that turns raw railway CSVs into clear, business-ready KPIs and insights.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Passengers and Revenue Analyst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59052" y="192024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59052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64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13232" y="29718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creation, storage &amp; validation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9272" y="169164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329684" y="192024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29684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64" dirty="0"/>
          </a:p>
        </p:txBody>
      </p:sp>
      <p:sp>
        <p:nvSpPr>
          <p:cNvPr id="12" name="Text 10"/>
          <p:cNvSpPr/>
          <p:nvPr/>
        </p:nvSpPr>
        <p:spPr>
          <a:xfrm>
            <a:off x="3456432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483864" y="29718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data-quality checks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169164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00316" y="192024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00316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64" dirty="0"/>
          </a:p>
        </p:txBody>
      </p:sp>
      <p:sp>
        <p:nvSpPr>
          <p:cNvPr id="17" name="Text 15"/>
          <p:cNvSpPr/>
          <p:nvPr/>
        </p:nvSpPr>
        <p:spPr>
          <a:xfrm>
            <a:off x="6227064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254496" y="29718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 &amp; visualization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60536" y="169164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870948" y="192024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870948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64" dirty="0"/>
          </a:p>
        </p:txBody>
      </p:sp>
      <p:sp>
        <p:nvSpPr>
          <p:cNvPr id="22" name="Text 20"/>
          <p:cNvSpPr/>
          <p:nvPr/>
        </p:nvSpPr>
        <p:spPr>
          <a:xfrm>
            <a:off x="8997696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025128" y="29718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/ transformation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559052" y="40690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559052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64" dirty="0"/>
          </a:p>
        </p:txBody>
      </p:sp>
      <p:sp>
        <p:nvSpPr>
          <p:cNvPr id="27" name="Text 25"/>
          <p:cNvSpPr/>
          <p:nvPr/>
        </p:nvSpPr>
        <p:spPr>
          <a:xfrm>
            <a:off x="685800" y="4754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13232" y="51206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analytical calculations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9272" y="384048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329684" y="40690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329684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64" dirty="0"/>
          </a:p>
        </p:txBody>
      </p:sp>
      <p:sp>
        <p:nvSpPr>
          <p:cNvPr id="32" name="Text 30"/>
          <p:cNvSpPr/>
          <p:nvPr/>
        </p:nvSpPr>
        <p:spPr>
          <a:xfrm>
            <a:off x="3456432" y="4754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3483864" y="51206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format (10 files)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9904" y="384048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100316" y="40690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100316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64" dirty="0"/>
          </a:p>
        </p:txBody>
      </p:sp>
      <p:sp>
        <p:nvSpPr>
          <p:cNvPr id="37" name="Text 35"/>
          <p:cNvSpPr/>
          <p:nvPr/>
        </p:nvSpPr>
        <p:spPr>
          <a:xfrm>
            <a:off x="6227064" y="4754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254496" y="51206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&amp; project sharing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860536" y="384048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9870948" y="40690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870948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64" dirty="0"/>
          </a:p>
        </p:txBody>
      </p:sp>
      <p:sp>
        <p:nvSpPr>
          <p:cNvPr id="42" name="Text 40"/>
          <p:cNvSpPr/>
          <p:nvPr/>
        </p:nvSpPr>
        <p:spPr>
          <a:xfrm>
            <a:off x="8997696" y="4754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Workbench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9025128" y="51206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 &amp; schema design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Passengers and Revenue Analyst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a self-compiled, project-built collection of 10 CSV files modeling Indian Railways passenger and revenue activity (FY 2019–2024), organized as a star schema for the MySQL database and Power BI model.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3840480"/>
          </a:xfrm>
          <a:prstGeom prst="roundRect">
            <a:avLst>
              <a:gd name="adj" fmla="val 1905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dim_zone.csv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90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Railway-zone master data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17720" y="27432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dim_station.csv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813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information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35661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rows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dim_train.csv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636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master information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17720" y="4389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rows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5166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dim_passenger_class.csv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458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class master data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17720" y="52120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05740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4652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fact_revenue.csv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907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revenue information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60704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4652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fact_passenger_class.csv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34381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performance by class/year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607040" y="3227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46520" y="3712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fact_passenger_traffic.csv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by year, zone &amp; category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607040" y="3758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46520" y="4242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fact_zone_performance.csv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498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Zone-level passenger &amp; revenue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607040" y="4288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46520" y="4773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fact_route.csv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5029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route information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607040" y="4818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46520" y="5303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fact_train_schedule.csv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5559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station sequence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607040" y="5349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Passengers and Revenue Analyst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 &amp; Connecting to Power BI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NAME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railway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4846320" cy="822960"/>
          </a:xfrm>
          <a:prstGeom prst="roundRect">
            <a:avLst>
              <a:gd name="adj" fmla="val 555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railway;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B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railway;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421538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78992" y="410565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 + 6 fact tables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60857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78992" y="44988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on every table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500176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78992" y="48920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Foreign-key relationships (star schema)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539496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78992" y="52852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constraints &amp; indexes for performance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POWER BI TO MYSQL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1031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09360" y="21031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43800" y="210312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799832" y="21031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99832" y="21031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34272" y="210312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90304" y="21031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290304" y="21031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connector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524744" y="210312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780776" y="21031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780776" y="21031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342900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2" name="Text 30"/>
          <p:cNvSpPr/>
          <p:nvPr/>
        </p:nvSpPr>
        <p:spPr>
          <a:xfrm>
            <a:off x="658368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CONNECT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39593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Get Data → select “MySQL database”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583680" y="4398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5160" y="43799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MySQL server &amp; port details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583680" y="4818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5160" y="4800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railway database and confirm the 10 tables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583680" y="5239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95160" y="52212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Import (or DirectQuery) and Load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583680" y="5660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95160" y="56418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relationships / refresh the dataset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Passengers and Revenue Analyst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— Loading Data into MySQL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14600" y="160020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70632" y="160020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70632" y="1600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DB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36592" y="160020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92624" y="160020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92624" y="1600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INFILE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58584" y="160020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14616" y="160020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214616" y="1600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 checks)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80576" y="160020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36608" y="160020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436608" y="1600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70632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(schema)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92624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/ Load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14616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36608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6400800" cy="196596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7240" y="3291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BULK LOAD SYNTAX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361188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DATA LOCAL INFILE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'YOUR_LOCAL_PATH/fact_train_schedule.csv'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 TABLE fact_train_schedule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TERMINATED BY ','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 1 ROWS;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23760" y="3154680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452360" y="3337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NOTES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52360" y="3758184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662672" y="36301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dimension tables loaded first to satisfy foreign-key constraints.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52360" y="4471416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662672" y="43434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fact tables loaded after dimensions (largest: fact_train_schedule at 12,000 rows).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52360" y="5184648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662672" y="5056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 paths updated per machine before each LOAD DATA statement.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52360" y="5897880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662672" y="576986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verified in MySQL against the source CSV files after every load.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Passengers and Revenue Analyst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Validation in 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88366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Train IDs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70632" y="155448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862072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80360" y="188366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Station Codes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92624" y="155448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84064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02352" y="188366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Railway Zones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14616" y="155448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06056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24344" y="188366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Passenger Classes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36608" y="155448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528048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46336" y="188366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Train IDs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496312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" y="2825496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Train Numbers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70632" y="2496312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862072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880360" y="2825496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Zone Codes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92624" y="2496312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84064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02352" y="2825496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Route Relationships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14616" y="2496312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06056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24344" y="2825496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436608" y="2496312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528048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46336" y="2825496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Foreign-Key Relationships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794760"/>
            <a:ext cx="11064240" cy="196596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22960" y="39502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VALIDATION QUERY — ORPHANED TRAIN_ID CHECK (LEFT JOIN)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" y="4279392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Invalid_Train_IDs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fact_route r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dim_train t ON r.Train_ID = t.Train_ID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t.Train_ID IS NULL;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Passengers and Revenue Analyst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— 5 Key KPIs Explained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713232" y="1719072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2" dirty="0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Passengers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86200" y="1581912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SUM(fact_passenger_traffic[Passengers])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543800" y="158191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originating passengers across all zones, years &amp; categories — headline traffic KPI (≈285M).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E3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13232" y="26700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13232" y="2670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2" dirty="0"/>
          </a:p>
        </p:txBody>
      </p:sp>
      <p:sp>
        <p:nvSpPr>
          <p:cNvPr id="13" name="Text 11"/>
          <p:cNvSpPr/>
          <p:nvPr/>
        </p:nvSpPr>
        <p:spPr>
          <a:xfrm>
            <a:off x="1417320" y="255117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Passenger KM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86200" y="253288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SUM(fact_passenger_traffic[Passenger_KM])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43800" y="253288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distance-weighted travel volume; used to gauge network utilization (≈127.08bn).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410712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13232" y="3621024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3232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2" dirty="0"/>
          </a:p>
        </p:txBody>
      </p:sp>
      <p:sp>
        <p:nvSpPr>
          <p:cNvPr id="19" name="Text 17"/>
          <p:cNvSpPr/>
          <p:nvPr/>
        </p:nvSpPr>
        <p:spPr>
          <a:xfrm>
            <a:off x="1417320" y="350215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86200" y="348386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SUM(fact_revenue[Passenger_Revenue])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SUM(fact_revenue[Freight_Revenue])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43800" y="348386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passenger + freight revenue into one overall financial KPI (≈1.94T).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4361688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E3ECF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3" name="Shape 21"/>
          <p:cNvSpPr/>
          <p:nvPr/>
        </p:nvSpPr>
        <p:spPr>
          <a:xfrm>
            <a:off x="713232" y="457200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13232" y="4572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2" dirty="0"/>
          </a:p>
        </p:txBody>
      </p:sp>
      <p:sp>
        <p:nvSpPr>
          <p:cNvPr id="25" name="Text 23"/>
          <p:cNvSpPr/>
          <p:nvPr/>
        </p:nvSpPr>
        <p:spPr>
          <a:xfrm>
            <a:off x="1417320" y="445312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Fare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86200" y="443484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Earnings],[Total Passengers])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43800" y="443484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per passenger — a core pricing/efficiency indicator (≈118.59).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5312664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13232" y="552297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13232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2" dirty="0"/>
          </a:p>
        </p:txBody>
      </p:sp>
      <p:sp>
        <p:nvSpPr>
          <p:cNvPr id="31" name="Text 29"/>
          <p:cNvSpPr/>
          <p:nvPr/>
        </p:nvSpPr>
        <p:spPr>
          <a:xfrm>
            <a:off x="1417320" y="540410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Growth 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86200" y="538581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DIVIDE([Revenue CY]-[Revenue PY],[Revenue PY])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43800" y="538581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revenue trend using time-intelligence; flags decline early (≈-13.1%).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Passengers and Revenue Analyst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&amp; Key Visuals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57276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Railway Performance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212140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trend, revenue by zone, passengers by class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462272" y="157276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Passenger Analysis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62272" y="212140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share by class, trend by class, city map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11312" y="157276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Analysis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11312" y="212140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trend, passenger vs freight, revenue by zone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COMPOSITION (₹1.94T TOTAL)</a:t>
            </a:r>
            <a:endParaRPr lang="en-US" sz="11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57200" y="3200400"/>
          <a:ext cx="51206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6035040" y="28803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035040" y="3017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285M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03504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Passengers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06840" y="28803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006840" y="3017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127.08bn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00684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KM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45262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035040" y="4663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1.94T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603504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006840" y="45262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9006840" y="4663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-13.1%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900684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035040" y="59893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visuals above are rebuilt from the report's published KPIs to preserve figures; see the .pbix / Screenshot folder in the repository for the original dashboard captures.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Passengers and Revenue Analyst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097280" y="1581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revenue (₹1.72T) dominates over passenger revenue (₹227.19bn) — freight is the primary revenue driver.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0" name="Text 8"/>
          <p:cNvSpPr/>
          <p:nvPr/>
        </p:nvSpPr>
        <p:spPr>
          <a:xfrm>
            <a:off x="1097280" y="22951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% shows a -13.1% decline, flagging a trend that needs zone- and year-level investigation.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285M total passengers and 127.08bn passenger-km highlight the scale of network utilization across FY2019–2024.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1097280" y="37216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traffic vary considerably by railway zone — zone comparison is key to spotting under/over-performers.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4531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1097280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9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star-schema (4 dimensions + 6 facts) in MySQL made all SQL checks and Power BI relationships reliable.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demonstrated: SQL · MySQL · Data Modeling · Data Validation · Power BI · DAX · Power Query · Business Intelligence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0533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Yakesh 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Passengers and Revenue Analyst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1238</Words>
  <Application>Microsoft Office PowerPoint</Application>
  <PresentationFormat>Widescreen</PresentationFormat>
  <Paragraphs>262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S0258496</cp:lastModifiedBy>
  <cp:revision>2</cp:revision>
  <dcterms:created xsi:type="dcterms:W3CDTF">2026-08-25T18:49:15Z</dcterms:created>
  <dcterms:modified xsi:type="dcterms:W3CDTF">2026-08-26T06:29:01Z</dcterms:modified>
</cp:coreProperties>
</file>